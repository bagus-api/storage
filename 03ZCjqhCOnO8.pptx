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9" r:id="rId5"/>
    <p:sldId id="286" r:id="rId6"/>
    <p:sldId id="292" r:id="rId7"/>
    <p:sldId id="270" r:id="rId8"/>
    <p:sldId id="273" r:id="rId9"/>
    <p:sldId id="268" r:id="rId10"/>
    <p:sldId id="28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84" y="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F7A84F-E231-42BE-A9F8-B5131853C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813BC-9E49-4ABB-A3C3-CEE0885B0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BDBEE-1FDA-4F57-947F-5759FA6ABC55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DFF29-9BE4-4CDF-A198-BBEE303F0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4AFC6-5A97-4417-A16A-485E5801A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8C659-3DDB-48CB-A056-6A658A161B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7677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5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89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538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317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17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80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44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+mn-lt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202246-9B90-4CE1-AAF1-3328E51AE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43DF42B-5E6A-409A-A205-0B59AE5FBD9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530301" y="1690689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C7A202D-9C81-48E9-AC0B-E4DDE20AE14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888689" y="170282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37076" y="170282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0506441-775A-4D93-ADE3-695C86D669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530301" y="384945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A00A08C-FA2D-44B5-9451-63F193A3E7B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888689" y="384945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A8F9540-8D26-4ADA-88E6-B9A742232C2D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1337076" y="384945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D7801BA-80A8-4F2C-90C8-155E6210A85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7634" y="1679576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99C7ED62-8CE2-417B-9E03-DB47D419110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99246" y="1679576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1" name="Picture Placeholder 28">
            <a:extLst>
              <a:ext uri="{FF2B5EF4-FFF2-40B4-BE49-F238E27FC236}">
                <a16:creationId xmlns:a16="http://schemas.microsoft.com/office/drawing/2014/main" id="{96383197-4013-4D5E-BF47-64BD2386A4D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6282" y="1679576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28">
            <a:extLst>
              <a:ext uri="{FF2B5EF4-FFF2-40B4-BE49-F238E27FC236}">
                <a16:creationId xmlns:a16="http://schemas.microsoft.com/office/drawing/2014/main" id="{B2568099-B430-4F70-A248-1840860FFEE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7634" y="3792079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28">
            <a:extLst>
              <a:ext uri="{FF2B5EF4-FFF2-40B4-BE49-F238E27FC236}">
                <a16:creationId xmlns:a16="http://schemas.microsoft.com/office/drawing/2014/main" id="{82A0F640-3653-4074-BEAA-B09FF6E0B39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99246" y="3792079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Picture Placeholder 28">
            <a:extLst>
              <a:ext uri="{FF2B5EF4-FFF2-40B4-BE49-F238E27FC236}">
                <a16:creationId xmlns:a16="http://schemas.microsoft.com/office/drawing/2014/main" id="{1723BD4F-261F-418F-B763-09039D2CA7B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26282" y="3792079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71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B74348DE-EC54-4C62-948C-0B2BF90455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15389"/>
            <a:ext cx="12188825" cy="374261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A53E879-94A1-4659-9069-ED0D6F03014D}"/>
              </a:ext>
            </a:extLst>
          </p:cNvPr>
          <p:cNvSpPr/>
          <p:nvPr userDrawn="1"/>
        </p:nvSpPr>
        <p:spPr>
          <a:xfrm>
            <a:off x="2400" y="1999821"/>
            <a:ext cx="12189600" cy="1115568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9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34047"/>
            <a:ext cx="5157787" cy="27556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9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434047"/>
            <a:ext cx="5183188" cy="27556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5339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15EEB49-54F4-404C-9B31-AD488BFCB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6B2DD458-866A-421E-9AD0-B0D9E11957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57A4D097-9603-42DC-888D-8039CE6ADC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B9B9E0BA-35AD-4D69-9A03-35F2509C2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12900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1CC61B3-695C-423D-8F0B-45674DC93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236700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870F23E-35A1-4942-A685-641AA8830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78762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63B8202-88BB-4ED4-B936-9D9C0B4C8D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999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openclipart.org/detail/27251/how-to-create-a-network-using-dex-library-by-dexmila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E745F20-F130-4708-BD5A-1A4FF4BE4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7611" y="0"/>
            <a:ext cx="6974237" cy="6858000"/>
          </a:xfrm>
          <a:prstGeom prst="rect">
            <a:avLst/>
          </a:prstGeom>
        </p:spPr>
      </p:pic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 bwMode="ltGray"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75000"/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 bwMode="ltGray"/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5000" dirty="0"/>
              <a:t>NETCONNECT</a:t>
            </a:r>
            <a:br>
              <a:rPr lang="en-US" sz="5000" dirty="0">
                <a:solidFill>
                  <a:schemeClr val="bg1"/>
                </a:solidFill>
              </a:rPr>
            </a:br>
            <a:r>
              <a:rPr lang="en-US" sz="5000" dirty="0"/>
              <a:t>SOLUTIONS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Gray">
          <a:xfrm>
            <a:off x="4044000" y="4221162"/>
            <a:ext cx="410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/>
          <a:p>
            <a:r>
              <a:rPr lang="en-US" dirty="0"/>
              <a:t>SMKN1 BUMI AGUNG</a:t>
            </a:r>
            <a:endParaRPr lang="en-US" sz="2500" b="1" i="1" spc="65" dirty="0">
              <a:solidFill>
                <a:schemeClr val="accent1"/>
              </a:solidFill>
              <a:cs typeface="Arial"/>
            </a:endParaRP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 bwMode="white">
          <a:xfrm>
            <a:off x="4044000" y="3229869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2894B736-0F24-454E-8A9D-717EB7869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82" y="0"/>
            <a:ext cx="12189618" cy="6858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9FE502-B0E1-4BDC-88D2-C6D41A22B083}"/>
              </a:ext>
            </a:extLst>
          </p:cNvPr>
          <p:cNvSpPr/>
          <p:nvPr/>
        </p:nvSpPr>
        <p:spPr>
          <a:xfrm>
            <a:off x="0" y="0"/>
            <a:ext cx="12189618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DCF29767-6635-4A46-AB77-672CC90C6FBE}"/>
              </a:ext>
            </a:extLst>
          </p:cNvPr>
          <p:cNvSpPr/>
          <p:nvPr/>
        </p:nvSpPr>
        <p:spPr>
          <a:xfrm>
            <a:off x="7835216" y="1370980"/>
            <a:ext cx="4010660" cy="4194074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9FABC344-E043-45BE-8588-06C658DBCE70}"/>
              </a:ext>
            </a:extLst>
          </p:cNvPr>
          <p:cNvSpPr/>
          <p:nvPr/>
        </p:nvSpPr>
        <p:spPr>
          <a:xfrm>
            <a:off x="5393837" y="1292946"/>
            <a:ext cx="6689725" cy="3528060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5502275" y="1692008"/>
            <a:ext cx="6425266" cy="6973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NETCONNECT SOLUTIONS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506CC-0185-443E-82C7-1600C21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object 9" descr="Beige rectangle">
            <a:extLst>
              <a:ext uri="{FF2B5EF4-FFF2-40B4-BE49-F238E27FC236}">
                <a16:creationId xmlns:a16="http://schemas.microsoft.com/office/drawing/2014/main" id="{02C6628C-972C-4717-AAF3-D882B30F6658}"/>
              </a:ext>
            </a:extLst>
          </p:cNvPr>
          <p:cNvSpPr/>
          <p:nvPr/>
        </p:nvSpPr>
        <p:spPr bwMode="white">
          <a:xfrm flipV="1">
            <a:off x="5527282" y="2302118"/>
            <a:ext cx="5941562" cy="87265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7A818AB-B120-41D5-88A6-933AB9CAAE68}"/>
              </a:ext>
            </a:extLst>
          </p:cNvPr>
          <p:cNvSpPr txBox="1">
            <a:spLocks/>
          </p:cNvSpPr>
          <p:nvPr/>
        </p:nvSpPr>
        <p:spPr bwMode="white">
          <a:xfrm>
            <a:off x="6147900" y="3287355"/>
            <a:ext cx="5181600" cy="16033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i="1" spc="-25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8E7BB-7A63-4A42-9C35-453931883790}"/>
              </a:ext>
            </a:extLst>
          </p:cNvPr>
          <p:cNvSpPr txBox="1"/>
          <p:nvPr/>
        </p:nvSpPr>
        <p:spPr>
          <a:xfrm>
            <a:off x="5420610" y="2603780"/>
            <a:ext cx="64252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Masalah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Wi-Fi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seperti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 :</a:t>
            </a: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- Blank Spot</a:t>
            </a: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- Kabel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tidak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rapi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-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Keamanan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jaringan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rendah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Kami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hadir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untuk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memberikan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solusi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jaringan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yang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rapih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ID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949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87B918-371C-4B31-9C7A-1D9A08C8A3BB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1999" cy="6858000"/>
          </a:xfrm>
        </p:spPr>
      </p:pic>
      <p:sp>
        <p:nvSpPr>
          <p:cNvPr id="8" name="object 3" descr="Blue rectangle">
            <a:extLst>
              <a:ext uri="{FF2B5EF4-FFF2-40B4-BE49-F238E27FC236}">
                <a16:creationId xmlns:a16="http://schemas.microsoft.com/office/drawing/2014/main" id="{A277388B-76FD-44C4-B506-F8A157E57C65}"/>
              </a:ext>
            </a:extLst>
          </p:cNvPr>
          <p:cNvSpPr/>
          <p:nvPr/>
        </p:nvSpPr>
        <p:spPr>
          <a:xfrm>
            <a:off x="-1" y="0"/>
            <a:ext cx="12192001" cy="6857999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90000"/>
              <a:lumOff val="10000"/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Oval 8" descr="Beige oval">
            <a:extLst>
              <a:ext uri="{FF2B5EF4-FFF2-40B4-BE49-F238E27FC236}">
                <a16:creationId xmlns:a16="http://schemas.microsoft.com/office/drawing/2014/main" id="{1191A09B-8CB4-416A-B1F9-ABC3B476DE1F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00B79-44BB-4D5F-B51D-2270A854D77A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838200" y="32995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DAFTAR HARGA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3C1EE-D9A0-406A-9A3A-75C82527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13" name="Content Placeholder 12" descr="Table">
            <a:extLst>
              <a:ext uri="{FF2B5EF4-FFF2-40B4-BE49-F238E27FC236}">
                <a16:creationId xmlns:a16="http://schemas.microsoft.com/office/drawing/2014/main" id="{1D6AB21B-0AB3-44DD-AD8E-D2EDD77DEA42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58247465"/>
              </p:ext>
            </p:extLst>
          </p:nvPr>
        </p:nvGraphicFramePr>
        <p:xfrm>
          <a:off x="458682" y="2529106"/>
          <a:ext cx="11482305" cy="1556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0576">
                  <a:extLst>
                    <a:ext uri="{9D8B030D-6E8A-4147-A177-3AD203B41FA5}">
                      <a16:colId xmlns:a16="http://schemas.microsoft.com/office/drawing/2014/main" val="3572385518"/>
                    </a:ext>
                  </a:extLst>
                </a:gridCol>
                <a:gridCol w="2870576">
                  <a:extLst>
                    <a:ext uri="{9D8B030D-6E8A-4147-A177-3AD203B41FA5}">
                      <a16:colId xmlns:a16="http://schemas.microsoft.com/office/drawing/2014/main" val="1440817424"/>
                    </a:ext>
                  </a:extLst>
                </a:gridCol>
                <a:gridCol w="2870577">
                  <a:extLst>
                    <a:ext uri="{9D8B030D-6E8A-4147-A177-3AD203B41FA5}">
                      <a16:colId xmlns:a16="http://schemas.microsoft.com/office/drawing/2014/main" val="1835666774"/>
                    </a:ext>
                  </a:extLst>
                </a:gridCol>
                <a:gridCol w="2870576">
                  <a:extLst>
                    <a:ext uri="{9D8B030D-6E8A-4147-A177-3AD203B41FA5}">
                      <a16:colId xmlns:a16="http://schemas.microsoft.com/office/drawing/2014/main" val="3312468757"/>
                    </a:ext>
                  </a:extLst>
                </a:gridCol>
              </a:tblGrid>
              <a:tr h="414442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</a:rPr>
                        <a:t>RP 0,</a:t>
                      </a:r>
                      <a:endParaRPr lang="en-US" sz="3000" b="1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</a:rPr>
                        <a:t>RP 50,000</a:t>
                      </a:r>
                      <a:endParaRPr lang="en-US" sz="3000" b="1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</a:rPr>
                        <a:t>RP 150,000</a:t>
                      </a:r>
                      <a:endParaRPr lang="en-US" sz="3000" b="1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RP 350,000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12073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</a:rPr>
                        <a:t>Gratis tanpa biaya hanya untuk Konsultasi dan Survvey</a:t>
                      </a:r>
                      <a:endParaRPr kumimoji="0" lang="da-DK" sz="1800" b="0" i="1" u="none" strike="noStrike" kern="1200" cap="none" spc="-25" normalizeH="0" baseline="0" noProof="0" dirty="0">
                        <a:ln>
                          <a:noFill/>
                        </a:ln>
                        <a:solidFill>
                          <a:srgbClr val="64B2C1">
                            <a:lumMod val="20000"/>
                            <a:lumOff val="80000"/>
                          </a:srgbClr>
                        </a:solidFill>
                        <a:effectLst/>
                        <a:uLnTx/>
                        <a:uFillTx/>
                        <a:latin typeface="Arial 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</a:rPr>
                        <a:t>Biaya perbaikan</a:t>
                      </a:r>
                      <a:endParaRPr kumimoji="0" lang="da-DK" sz="1800" b="0" i="1" u="none" strike="noStrike" kern="1200" cap="none" spc="-25" normalizeH="0" baseline="0" noProof="0" dirty="0">
                        <a:ln>
                          <a:noFill/>
                        </a:ln>
                        <a:solidFill>
                          <a:srgbClr val="64B2C1">
                            <a:lumMod val="20000"/>
                            <a:lumOff val="80000"/>
                          </a:srgbClr>
                        </a:solidFill>
                        <a:effectLst/>
                        <a:uLnTx/>
                        <a:uFillTx/>
                        <a:latin typeface="Arial 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Jasa Tarik Kabel Dan Setting Access Point / Titik</a:t>
                      </a:r>
                      <a:endParaRPr lang="da-DK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Paket Setting manajemen Kos / Voucher (Mikrotik)</a:t>
                      </a:r>
                      <a:endParaRPr lang="da-DK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001753"/>
                  </a:ext>
                </a:extLst>
              </a:tr>
            </a:tbl>
          </a:graphicData>
        </a:graphic>
      </p:graphicFrame>
      <p:sp>
        <p:nvSpPr>
          <p:cNvPr id="11" name="object 5" descr="Beige rectangle">
            <a:extLst>
              <a:ext uri="{FF2B5EF4-FFF2-40B4-BE49-F238E27FC236}">
                <a16:creationId xmlns:a16="http://schemas.microsoft.com/office/drawing/2014/main" id="{B07BA1F9-2C19-4C07-B29B-18B9FBCC4755}"/>
              </a:ext>
            </a:extLst>
          </p:cNvPr>
          <p:cNvSpPr/>
          <p:nvPr/>
        </p:nvSpPr>
        <p:spPr bwMode="white">
          <a:xfrm>
            <a:off x="947607" y="1324564"/>
            <a:ext cx="4536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cxnSp>
        <p:nvCxnSpPr>
          <p:cNvPr id="12" name="Straight Connector 11" descr="Line">
            <a:extLst>
              <a:ext uri="{FF2B5EF4-FFF2-40B4-BE49-F238E27FC236}">
                <a16:creationId xmlns:a16="http://schemas.microsoft.com/office/drawing/2014/main" id="{0D4D8421-B427-472B-95AE-FBBC914ACC5F}"/>
              </a:ext>
            </a:extLst>
          </p:cNvPr>
          <p:cNvCxnSpPr/>
          <p:nvPr/>
        </p:nvCxnSpPr>
        <p:spPr>
          <a:xfrm>
            <a:off x="6096000" y="4101403"/>
            <a:ext cx="0" cy="396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1554E6-FFC7-4D10-8E15-D72915B89452}"/>
              </a:ext>
            </a:extLst>
          </p:cNvPr>
          <p:cNvSpPr/>
          <p:nvPr/>
        </p:nvSpPr>
        <p:spPr>
          <a:xfrm>
            <a:off x="4583907" y="4487445"/>
            <a:ext cx="3024187" cy="647700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lang="en-US" sz="3000" dirty="0">
                <a:solidFill>
                  <a:schemeClr val="tx2"/>
                </a:solidFill>
                <a:latin typeface="+mj-lt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2165367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42EF1974-141C-494C-A63E-216742273C6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2" name="object 3" descr="Blue rectangle">
            <a:extLst>
              <a:ext uri="{FF2B5EF4-FFF2-40B4-BE49-F238E27FC236}">
                <a16:creationId xmlns:a16="http://schemas.microsoft.com/office/drawing/2014/main" id="{2D225086-68BE-4168-8F17-9443ADD89675}"/>
              </a:ext>
            </a:extLst>
          </p:cNvPr>
          <p:cNvSpPr/>
          <p:nvPr/>
        </p:nvSpPr>
        <p:spPr>
          <a:xfrm>
            <a:off x="0" y="23788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3" name="Oval 22" descr="Beige oval">
            <a:extLst>
              <a:ext uri="{FF2B5EF4-FFF2-40B4-BE49-F238E27FC236}">
                <a16:creationId xmlns:a16="http://schemas.microsoft.com/office/drawing/2014/main" id="{433945EE-A7C1-410E-BF29-F5CEA2F4F576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AF9D9A5-149E-4118-AAE3-8EF91B9C5B7D}"/>
              </a:ext>
            </a:extLst>
          </p:cNvPr>
          <p:cNvSpPr>
            <a:spLocks noGrp="1"/>
          </p:cNvSpPr>
          <p:nvPr>
            <p:ph sz="half" idx="14"/>
          </p:nvPr>
        </p:nvSpPr>
        <p:spPr bwMode="white">
          <a:xfrm>
            <a:off x="4843363" y="1702826"/>
            <a:ext cx="3148965" cy="1922438"/>
          </a:xfrm>
        </p:spPr>
        <p:txBody>
          <a:bodyPr>
            <a:no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en-US" sz="1900" b="1" dirty="0">
                <a:solidFill>
                  <a:schemeClr val="bg1"/>
                </a:solidFill>
              </a:rPr>
              <a:t>MISI</a:t>
            </a:r>
          </a:p>
          <a:p>
            <a:pPr marR="5080">
              <a:lnSpc>
                <a:spcPct val="100000"/>
              </a:lnSpc>
              <a:spcBef>
                <a:spcPts val="600"/>
              </a:spcBef>
            </a:pP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Mengutamakan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</a:t>
            </a: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kerapian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dan </a:t>
            </a: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keamanan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</a:t>
            </a: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instalasi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90A3AE-E658-426D-96CD-CB0614B7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BDEDF39-62EC-40AF-98F4-06A79F1F80F1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818028" y="365125"/>
            <a:ext cx="10515600" cy="1325563"/>
          </a:xfrm>
        </p:spPr>
        <p:txBody>
          <a:bodyPr/>
          <a:lstStyle/>
          <a:p>
            <a:r>
              <a:rPr lang="en-US" dirty="0"/>
              <a:t>VISI &amp; MISI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DC0E4E-6822-467C-96E3-77C667B41D2B}"/>
              </a:ext>
            </a:extLst>
          </p:cNvPr>
          <p:cNvSpPr>
            <a:spLocks noGrp="1"/>
          </p:cNvSpPr>
          <p:nvPr>
            <p:ph sz="half" idx="1"/>
          </p:nvPr>
        </p:nvSpPr>
        <p:spPr bwMode="white">
          <a:xfrm>
            <a:off x="1337076" y="1702825"/>
            <a:ext cx="3148965" cy="2146629"/>
          </a:xfrm>
        </p:spPr>
        <p:txBody>
          <a:bodyPr>
            <a:no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en-US" sz="1900" b="1" dirty="0">
                <a:solidFill>
                  <a:schemeClr val="bg1"/>
                </a:solidFill>
              </a:rPr>
              <a:t>VISI</a:t>
            </a:r>
          </a:p>
          <a:p>
            <a:pPr marR="5080">
              <a:lnSpc>
                <a:spcPct val="100000"/>
              </a:lnSpc>
              <a:spcBef>
                <a:spcPts val="600"/>
              </a:spcBef>
            </a:pP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Menjadi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</a:t>
            </a: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penyedia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</a:t>
            </a: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jasa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</a:t>
            </a: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instalasi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</a:t>
            </a: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jarungan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local yang </a:t>
            </a: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terpercaya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dan </a:t>
            </a: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terdepan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di </a:t>
            </a:r>
            <a:r>
              <a:rPr lang="en-US" b="1" i="1" spc="-15" dirty="0" err="1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Bumi</a:t>
            </a:r>
            <a:r>
              <a:rPr lang="en-US" b="1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 Agung Pada 2028</a:t>
            </a:r>
          </a:p>
          <a:p>
            <a:pPr marR="5080">
              <a:lnSpc>
                <a:spcPct val="120000"/>
              </a:lnSpc>
              <a:spcBef>
                <a:spcPts val="600"/>
              </a:spcBef>
            </a:pPr>
            <a:endParaRPr lang="en-US" sz="1800" i="1" spc="-15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2176240-9D71-46A9-959A-FFCF84DC04A3}"/>
              </a:ext>
            </a:extLst>
          </p:cNvPr>
          <p:cNvSpPr>
            <a:spLocks noGrp="1"/>
          </p:cNvSpPr>
          <p:nvPr>
            <p:ph sz="half" idx="17"/>
          </p:nvPr>
        </p:nvSpPr>
        <p:spPr bwMode="white">
          <a:xfrm>
            <a:off x="4843363" y="2770094"/>
            <a:ext cx="3690011" cy="1816389"/>
          </a:xfrm>
        </p:spPr>
        <p:txBody>
          <a:bodyPr>
            <a:no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en-US" b="1" dirty="0" err="1">
                <a:solidFill>
                  <a:schemeClr val="bg1"/>
                </a:solidFill>
              </a:rPr>
              <a:t>Memberikan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pelayanan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cepat</a:t>
            </a:r>
            <a:r>
              <a:rPr lang="en-US" b="1" dirty="0">
                <a:solidFill>
                  <a:schemeClr val="bg1"/>
                </a:solidFill>
              </a:rPr>
              <a:t> dan </a:t>
            </a:r>
            <a:r>
              <a:rPr lang="en-US" b="1" dirty="0" err="1">
                <a:solidFill>
                  <a:schemeClr val="bg1"/>
                </a:solidFill>
              </a:rPr>
              <a:t>Responsif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6" name="Picture Placeholder 35" descr="Check icon">
            <a:extLst>
              <a:ext uri="{FF2B5EF4-FFF2-40B4-BE49-F238E27FC236}">
                <a16:creationId xmlns:a16="http://schemas.microsoft.com/office/drawing/2014/main" id="{1A9D8BC9-CF04-4A6C-89E6-E6A18D7419F0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838200" y="1679575"/>
            <a:ext cx="576000" cy="576000"/>
          </a:xfrm>
        </p:spPr>
      </p:pic>
      <p:pic>
        <p:nvPicPr>
          <p:cNvPr id="38" name="Picture Placeholder 37" descr="Check icon">
            <a:extLst>
              <a:ext uri="{FF2B5EF4-FFF2-40B4-BE49-F238E27FC236}">
                <a16:creationId xmlns:a16="http://schemas.microsoft.com/office/drawing/2014/main" id="{D15B4FC9-0788-4E4C-9F5A-FCFAF69E7E7F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4378157" y="1679575"/>
            <a:ext cx="576000" cy="576000"/>
          </a:xfrm>
        </p:spPr>
      </p:pic>
      <p:pic>
        <p:nvPicPr>
          <p:cNvPr id="40" name="Picture Placeholder 39" descr="Check icon">
            <a:extLst>
              <a:ext uri="{FF2B5EF4-FFF2-40B4-BE49-F238E27FC236}">
                <a16:creationId xmlns:a16="http://schemas.microsoft.com/office/drawing/2014/main" id="{250F553C-3E38-47E0-8A58-2967D756991D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4432099" y="3403375"/>
            <a:ext cx="576000" cy="576000"/>
          </a:xfrm>
        </p:spPr>
      </p:pic>
      <p:pic>
        <p:nvPicPr>
          <p:cNvPr id="42" name="Picture Placeholder 41" descr="Check icon">
            <a:extLst>
              <a:ext uri="{FF2B5EF4-FFF2-40B4-BE49-F238E27FC236}">
                <a16:creationId xmlns:a16="http://schemas.microsoft.com/office/drawing/2014/main" id="{C9B2F2DF-F5C3-47DD-B3B0-43E328A2AAAB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4432099" y="3966369"/>
            <a:ext cx="576000" cy="576000"/>
          </a:xfrm>
        </p:spPr>
      </p:pic>
      <p:sp>
        <p:nvSpPr>
          <p:cNvPr id="24" name="object 5" descr="Beige rectangle">
            <a:extLst>
              <a:ext uri="{FF2B5EF4-FFF2-40B4-BE49-F238E27FC236}">
                <a16:creationId xmlns:a16="http://schemas.microsoft.com/office/drawing/2014/main" id="{73ED10AC-D04B-401B-A6A1-6069912D1664}"/>
              </a:ext>
            </a:extLst>
          </p:cNvPr>
          <p:cNvSpPr/>
          <p:nvPr/>
        </p:nvSpPr>
        <p:spPr bwMode="ltGray">
          <a:xfrm>
            <a:off x="929705" y="1339122"/>
            <a:ext cx="3060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32" name="Picture Placeholder 31" descr="Check icon">
            <a:extLst>
              <a:ext uri="{FF2B5EF4-FFF2-40B4-BE49-F238E27FC236}">
                <a16:creationId xmlns:a16="http://schemas.microsoft.com/office/drawing/2014/main" id="{6054A700-8461-40AD-8429-6C9F6EEEEC4C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4397216" y="2664045"/>
            <a:ext cx="576000" cy="57600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DAB4DE-8E52-4768-B4F5-A1EE327C4A59}"/>
              </a:ext>
            </a:extLst>
          </p:cNvPr>
          <p:cNvSpPr txBox="1"/>
          <p:nvPr/>
        </p:nvSpPr>
        <p:spPr>
          <a:xfrm>
            <a:off x="4981163" y="3451721"/>
            <a:ext cx="3148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err="1">
                <a:solidFill>
                  <a:schemeClr val="bg1"/>
                </a:solidFill>
              </a:rPr>
              <a:t>Menawarkan</a:t>
            </a:r>
            <a:r>
              <a:rPr lang="en-US" sz="1600" b="1" i="1" dirty="0">
                <a:solidFill>
                  <a:schemeClr val="bg1"/>
                </a:solidFill>
              </a:rPr>
              <a:t> </a:t>
            </a:r>
            <a:r>
              <a:rPr lang="en-US" sz="1600" b="1" i="1" dirty="0" err="1">
                <a:solidFill>
                  <a:schemeClr val="bg1"/>
                </a:solidFill>
              </a:rPr>
              <a:t>harga</a:t>
            </a:r>
            <a:r>
              <a:rPr lang="en-US" sz="1600" b="1" i="1" dirty="0">
                <a:solidFill>
                  <a:schemeClr val="bg1"/>
                </a:solidFill>
              </a:rPr>
              <a:t> yang </a:t>
            </a:r>
            <a:r>
              <a:rPr lang="en-US" sz="1600" b="1" i="1" dirty="0" err="1">
                <a:solidFill>
                  <a:schemeClr val="bg1"/>
                </a:solidFill>
              </a:rPr>
              <a:t>jujur</a:t>
            </a:r>
            <a:r>
              <a:rPr lang="en-US" sz="1600" b="1" i="1" dirty="0">
                <a:solidFill>
                  <a:schemeClr val="bg1"/>
                </a:solidFill>
              </a:rPr>
              <a:t> dan </a:t>
            </a:r>
            <a:r>
              <a:rPr lang="en-US" sz="1600" b="1" i="1" dirty="0" err="1">
                <a:solidFill>
                  <a:schemeClr val="bg1"/>
                </a:solidFill>
              </a:rPr>
              <a:t>kompetitif</a:t>
            </a:r>
            <a:r>
              <a:rPr lang="en-US" sz="1600" b="1" i="1" dirty="0">
                <a:solidFill>
                  <a:schemeClr val="bg1"/>
                </a:solidFill>
              </a:rPr>
              <a:t>.</a:t>
            </a:r>
            <a:endParaRPr lang="en-ID" sz="1600" b="1" i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A22A0A-9B99-44AD-A2AF-5328A4C89A27}"/>
              </a:ext>
            </a:extLst>
          </p:cNvPr>
          <p:cNvSpPr txBox="1"/>
          <p:nvPr/>
        </p:nvSpPr>
        <p:spPr>
          <a:xfrm>
            <a:off x="5062041" y="4051686"/>
            <a:ext cx="3148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err="1">
                <a:solidFill>
                  <a:schemeClr val="bg1"/>
                </a:solidFill>
              </a:rPr>
              <a:t>Mengutamakan</a:t>
            </a:r>
            <a:r>
              <a:rPr lang="en-US" sz="1600" b="1" i="1" dirty="0">
                <a:solidFill>
                  <a:schemeClr val="bg1"/>
                </a:solidFill>
              </a:rPr>
              <a:t> </a:t>
            </a:r>
            <a:r>
              <a:rPr lang="en-US" sz="1600" b="1" i="1" dirty="0" err="1">
                <a:solidFill>
                  <a:schemeClr val="bg1"/>
                </a:solidFill>
              </a:rPr>
              <a:t>keselamatan</a:t>
            </a:r>
            <a:r>
              <a:rPr lang="en-US" sz="1600" b="1" i="1" dirty="0">
                <a:solidFill>
                  <a:schemeClr val="bg1"/>
                </a:solidFill>
              </a:rPr>
              <a:t> </a:t>
            </a:r>
            <a:r>
              <a:rPr lang="en-US" sz="1600" b="1" i="1" dirty="0" err="1">
                <a:solidFill>
                  <a:schemeClr val="bg1"/>
                </a:solidFill>
              </a:rPr>
              <a:t>kerja</a:t>
            </a:r>
            <a:r>
              <a:rPr lang="en-US" sz="1600" b="1" i="1" dirty="0">
                <a:solidFill>
                  <a:schemeClr val="bg1"/>
                </a:solidFill>
              </a:rPr>
              <a:t> (K3)</a:t>
            </a:r>
            <a:endParaRPr lang="en-ID" sz="1600" b="1" i="1" dirty="0">
              <a:solidFill>
                <a:schemeClr val="bg1"/>
              </a:solidFill>
            </a:endParaRPr>
          </a:p>
        </p:txBody>
      </p:sp>
      <p:pic>
        <p:nvPicPr>
          <p:cNvPr id="30" name="Picture Placeholder 41" descr="Check icon">
            <a:extLst>
              <a:ext uri="{FF2B5EF4-FFF2-40B4-BE49-F238E27FC236}">
                <a16:creationId xmlns:a16="http://schemas.microsoft.com/office/drawing/2014/main" id="{4A4AC0B8-A287-4CC3-A3DC-05BDBEF75E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4424569" y="4628722"/>
            <a:ext cx="576000" cy="576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C929268-9B46-478F-99F9-363A35E71231}"/>
              </a:ext>
            </a:extLst>
          </p:cNvPr>
          <p:cNvSpPr txBox="1"/>
          <p:nvPr/>
        </p:nvSpPr>
        <p:spPr>
          <a:xfrm>
            <a:off x="5062041" y="4718123"/>
            <a:ext cx="3471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err="1">
                <a:solidFill>
                  <a:schemeClr val="bg1"/>
                </a:solidFill>
              </a:rPr>
              <a:t>Memberikan</a:t>
            </a:r>
            <a:r>
              <a:rPr lang="en-US" sz="1600" b="1" i="1" dirty="0">
                <a:solidFill>
                  <a:schemeClr val="bg1"/>
                </a:solidFill>
              </a:rPr>
              <a:t> </a:t>
            </a:r>
            <a:r>
              <a:rPr lang="en-US" sz="1600" b="1" i="1" dirty="0" err="1">
                <a:solidFill>
                  <a:schemeClr val="bg1"/>
                </a:solidFill>
              </a:rPr>
              <a:t>solusi</a:t>
            </a:r>
            <a:r>
              <a:rPr lang="en-US" sz="1600" b="1" i="1" dirty="0">
                <a:solidFill>
                  <a:schemeClr val="bg1"/>
                </a:solidFill>
              </a:rPr>
              <a:t> </a:t>
            </a:r>
            <a:r>
              <a:rPr lang="en-US" sz="1600" b="1" i="1" dirty="0" err="1">
                <a:solidFill>
                  <a:schemeClr val="bg1"/>
                </a:solidFill>
              </a:rPr>
              <a:t>jaringan</a:t>
            </a:r>
            <a:r>
              <a:rPr lang="en-US" sz="1600" b="1" i="1" dirty="0">
                <a:solidFill>
                  <a:schemeClr val="bg1"/>
                </a:solidFill>
              </a:rPr>
              <a:t> </a:t>
            </a:r>
            <a:r>
              <a:rPr lang="en-US" sz="1600" b="1" i="1" dirty="0" err="1">
                <a:solidFill>
                  <a:schemeClr val="bg1"/>
                </a:solidFill>
              </a:rPr>
              <a:t>sesui</a:t>
            </a:r>
            <a:r>
              <a:rPr lang="en-US" sz="1600" b="1" i="1" dirty="0">
                <a:solidFill>
                  <a:schemeClr val="bg1"/>
                </a:solidFill>
              </a:rPr>
              <a:t> </a:t>
            </a:r>
            <a:r>
              <a:rPr lang="en-US" sz="1600" b="1" i="1" dirty="0" err="1">
                <a:solidFill>
                  <a:schemeClr val="bg1"/>
                </a:solidFill>
              </a:rPr>
              <a:t>kebutuhan</a:t>
            </a:r>
            <a:r>
              <a:rPr lang="en-US" sz="1600" b="1" i="1" dirty="0">
                <a:solidFill>
                  <a:schemeClr val="bg1"/>
                </a:solidFill>
              </a:rPr>
              <a:t> </a:t>
            </a:r>
            <a:r>
              <a:rPr lang="en-US" sz="1600" b="1" i="1" dirty="0" err="1">
                <a:solidFill>
                  <a:schemeClr val="bg1"/>
                </a:solidFill>
              </a:rPr>
              <a:t>pelanggan</a:t>
            </a:r>
            <a:endParaRPr lang="en-ID" sz="16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032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A6A75DC-BE31-480B-B034-B1DF7AFA50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115389"/>
            <a:ext cx="12189599" cy="3742611"/>
          </a:xfrm>
        </p:spPr>
      </p:pic>
      <p:sp>
        <p:nvSpPr>
          <p:cNvPr id="12" name="object 3" descr="Blue rectangle">
            <a:extLst>
              <a:ext uri="{FF2B5EF4-FFF2-40B4-BE49-F238E27FC236}">
                <a16:creationId xmlns:a16="http://schemas.microsoft.com/office/drawing/2014/main" id="{CDEEA71D-C3B3-45BB-A776-D17D92A58127}"/>
              </a:ext>
            </a:extLst>
          </p:cNvPr>
          <p:cNvSpPr/>
          <p:nvPr/>
        </p:nvSpPr>
        <p:spPr>
          <a:xfrm>
            <a:off x="-1" y="2850776"/>
            <a:ext cx="12189600" cy="4007224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90000"/>
              <a:lumOff val="10000"/>
              <a:alpha val="80000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val 12" descr="Beige oval">
            <a:extLst>
              <a:ext uri="{FF2B5EF4-FFF2-40B4-BE49-F238E27FC236}">
                <a16:creationId xmlns:a16="http://schemas.microsoft.com/office/drawing/2014/main" id="{F336552F-CA64-452F-9BD8-01334388BFF5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ADB42F-AE48-4323-897F-DB5A083B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51" y="-131936"/>
            <a:ext cx="10515600" cy="1325563"/>
          </a:xfrm>
        </p:spPr>
        <p:txBody>
          <a:bodyPr/>
          <a:lstStyle/>
          <a:p>
            <a:r>
              <a:rPr lang="en-US" dirty="0" err="1"/>
              <a:t>Profil</a:t>
            </a:r>
            <a:r>
              <a:rPr lang="en-US" dirty="0"/>
              <a:t> Usaha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F7FB6B-EAC9-40F7-9522-61A8D53E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5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890F7762-BD37-4D33-9F80-1DA07B5E172E}"/>
              </a:ext>
            </a:extLst>
          </p:cNvPr>
          <p:cNvSpPr/>
          <p:nvPr/>
        </p:nvSpPr>
        <p:spPr>
          <a:xfrm>
            <a:off x="95367" y="821949"/>
            <a:ext cx="3672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378B2AD-766D-4C18-B97F-C8D2D0B94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0647" y="2850776"/>
            <a:ext cx="10884741" cy="3338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 err="1">
                <a:solidFill>
                  <a:schemeClr val="bg1"/>
                </a:solidFill>
              </a:rPr>
              <a:t>Makna</a:t>
            </a:r>
            <a:r>
              <a:rPr lang="en-US" sz="2000" b="1" i="1" dirty="0">
                <a:solidFill>
                  <a:schemeClr val="bg1"/>
                </a:solidFill>
              </a:rPr>
              <a:t>  : </a:t>
            </a:r>
          </a:p>
          <a:p>
            <a:pPr marL="0" indent="0">
              <a:buNone/>
            </a:pPr>
            <a:r>
              <a:rPr lang="en-US" sz="1800" b="1" i="1" dirty="0" err="1">
                <a:solidFill>
                  <a:schemeClr val="bg1"/>
                </a:solidFill>
              </a:rPr>
              <a:t>Gabungan</a:t>
            </a:r>
            <a:r>
              <a:rPr lang="en-US" sz="1800" b="1" i="1" dirty="0">
                <a:solidFill>
                  <a:schemeClr val="bg1"/>
                </a:solidFill>
              </a:rPr>
              <a:t> Network dan Connect, </a:t>
            </a:r>
            <a:r>
              <a:rPr lang="en-US" sz="1800" b="1" i="1" dirty="0" err="1">
                <a:solidFill>
                  <a:schemeClr val="bg1"/>
                </a:solidFill>
              </a:rPr>
              <a:t>Sebagai</a:t>
            </a:r>
            <a:r>
              <a:rPr lang="en-US" sz="1800" b="1" i="1" dirty="0">
                <a:solidFill>
                  <a:schemeClr val="bg1"/>
                </a:solidFill>
              </a:rPr>
              <a:t> </a:t>
            </a:r>
            <a:r>
              <a:rPr lang="en-US" sz="1800" b="1" i="1" dirty="0" err="1">
                <a:solidFill>
                  <a:schemeClr val="bg1"/>
                </a:solidFill>
              </a:rPr>
              <a:t>penghubung</a:t>
            </a:r>
            <a:r>
              <a:rPr lang="en-US" sz="1800" b="1" i="1" dirty="0">
                <a:solidFill>
                  <a:schemeClr val="bg1"/>
                </a:solidFill>
              </a:rPr>
              <a:t> </a:t>
            </a:r>
            <a:r>
              <a:rPr lang="en-US" sz="1800" b="1" i="1" dirty="0" err="1">
                <a:solidFill>
                  <a:schemeClr val="bg1"/>
                </a:solidFill>
              </a:rPr>
              <a:t>kelancaran</a:t>
            </a:r>
            <a:r>
              <a:rPr lang="en-US" sz="1800" b="1" i="1" dirty="0">
                <a:solidFill>
                  <a:schemeClr val="bg1"/>
                </a:solidFill>
              </a:rPr>
              <a:t> </a:t>
            </a:r>
            <a:r>
              <a:rPr lang="en-US" sz="1800" b="1" i="1" dirty="0" err="1">
                <a:solidFill>
                  <a:schemeClr val="bg1"/>
                </a:solidFill>
              </a:rPr>
              <a:t>informasi</a:t>
            </a:r>
            <a:r>
              <a:rPr lang="en-US" sz="1800" b="1" i="1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ID" sz="1800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D" sz="2000" b="1" i="1" dirty="0" err="1">
                <a:solidFill>
                  <a:schemeClr val="bg1"/>
                </a:solidFill>
              </a:rPr>
              <a:t>Pinsip</a:t>
            </a:r>
            <a:r>
              <a:rPr lang="en-ID" sz="2000" b="1" i="1" dirty="0">
                <a:solidFill>
                  <a:schemeClr val="bg1"/>
                </a:solidFill>
              </a:rPr>
              <a:t>  :</a:t>
            </a:r>
          </a:p>
          <a:p>
            <a:pPr marL="0" indent="0">
              <a:buNone/>
            </a:pPr>
            <a:r>
              <a:rPr lang="en-ID" sz="2000" b="1" i="1" dirty="0">
                <a:solidFill>
                  <a:schemeClr val="bg1"/>
                </a:solidFill>
              </a:rPr>
              <a:t> - </a:t>
            </a:r>
            <a:r>
              <a:rPr lang="en-ID" sz="2000" b="1" i="1" dirty="0" err="1">
                <a:solidFill>
                  <a:schemeClr val="bg1"/>
                </a:solidFill>
              </a:rPr>
              <a:t>Kerapian</a:t>
            </a:r>
            <a:endParaRPr lang="en-ID" sz="2000" b="1" i="1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ID" sz="2000" b="1" i="1" dirty="0" err="1">
                <a:solidFill>
                  <a:schemeClr val="bg1"/>
                </a:solidFill>
              </a:rPr>
              <a:t>Kecepatan</a:t>
            </a:r>
            <a:endParaRPr lang="en-ID" sz="2000" b="1" i="1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ID" sz="2000" b="1" i="1" dirty="0" err="1">
                <a:solidFill>
                  <a:schemeClr val="bg1"/>
                </a:solidFill>
              </a:rPr>
              <a:t>Keamanan</a:t>
            </a:r>
            <a:endParaRPr lang="en-ID" sz="20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01984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Placeholder 46">
            <a:extLst>
              <a:ext uri="{FF2B5EF4-FFF2-40B4-BE49-F238E27FC236}">
                <a16:creationId xmlns:a16="http://schemas.microsoft.com/office/drawing/2014/main" id="{0FD54BB1-BA8F-46B1-AE35-C73B73A4821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1" y="1350"/>
            <a:ext cx="12349764" cy="6856649"/>
          </a:xfrm>
        </p:spPr>
      </p:pic>
      <p:sp>
        <p:nvSpPr>
          <p:cNvPr id="35" name="object 3" descr="Blue rectangle">
            <a:extLst>
              <a:ext uri="{FF2B5EF4-FFF2-40B4-BE49-F238E27FC236}">
                <a16:creationId xmlns:a16="http://schemas.microsoft.com/office/drawing/2014/main" id="{9206F938-D64B-410D-BE2D-847D78F81E42}"/>
              </a:ext>
            </a:extLst>
          </p:cNvPr>
          <p:cNvSpPr/>
          <p:nvPr/>
        </p:nvSpPr>
        <p:spPr>
          <a:xfrm>
            <a:off x="0" y="0"/>
            <a:ext cx="12356966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75000"/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8" name="Oval 47" descr="Beige oval">
            <a:extLst>
              <a:ext uri="{FF2B5EF4-FFF2-40B4-BE49-F238E27FC236}">
                <a16:creationId xmlns:a16="http://schemas.microsoft.com/office/drawing/2014/main" id="{7799BEE8-A94D-443E-9846-2D1F32C57944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 descr="Blue rectangle">
            <a:extLst>
              <a:ext uri="{FF2B5EF4-FFF2-40B4-BE49-F238E27FC236}">
                <a16:creationId xmlns:a16="http://schemas.microsoft.com/office/drawing/2014/main" id="{B743B096-6BB3-4330-9D5B-22EEBAF87BEE}"/>
              </a:ext>
            </a:extLst>
          </p:cNvPr>
          <p:cNvSpPr/>
          <p:nvPr/>
        </p:nvSpPr>
        <p:spPr>
          <a:xfrm>
            <a:off x="0" y="2770631"/>
            <a:ext cx="12349764" cy="13167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E755E-A3DE-48FA-953D-4B2CFF01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58CBCC-46BE-4654-9B01-07B35CF17C32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TEAM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D70BF709-D6E1-4AFF-A538-E9F7D1A452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white">
          <a:xfrm>
            <a:off x="806791" y="3016788"/>
            <a:ext cx="2700338" cy="7381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Dea</a:t>
            </a:r>
            <a:r>
              <a:rPr lang="en-US" dirty="0"/>
              <a:t> </a:t>
            </a:r>
            <a:r>
              <a:rPr lang="en-US" dirty="0" err="1"/>
              <a:t>Ajeng</a:t>
            </a:r>
            <a:r>
              <a:rPr lang="en-US" dirty="0"/>
              <a:t> </a:t>
            </a:r>
            <a:r>
              <a:rPr lang="en-US" dirty="0" err="1"/>
              <a:t>Syahfitri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 err="1">
                <a:solidFill>
                  <a:schemeClr val="bg2"/>
                </a:solidFill>
                <a:latin typeface="+mn-lt"/>
              </a:rPr>
              <a:t>Keuangan</a:t>
            </a:r>
            <a:r>
              <a:rPr lang="en-US" sz="1600" i="1" dirty="0">
                <a:solidFill>
                  <a:schemeClr val="bg2"/>
                </a:solidFill>
                <a:latin typeface="+mn-lt"/>
              </a:rPr>
              <a:t> &amp; CS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8CE3A891-B3D6-4B07-A0B9-8F86A9EE58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white">
          <a:xfrm>
            <a:off x="4282265" y="3059906"/>
            <a:ext cx="2700338" cy="73818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Adnan </a:t>
            </a:r>
            <a:r>
              <a:rPr lang="en-US" dirty="0" err="1"/>
              <a:t>Ferdiansyah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 err="1">
                <a:solidFill>
                  <a:schemeClr val="bg2"/>
                </a:solidFill>
                <a:latin typeface="+mn-lt"/>
              </a:rPr>
              <a:t>Teknisi</a:t>
            </a:r>
            <a:r>
              <a:rPr lang="en-US" sz="1600" i="1" dirty="0">
                <a:solidFill>
                  <a:schemeClr val="bg2"/>
                </a:solidFill>
                <a:latin typeface="+mn-lt"/>
              </a:rPr>
              <a:t> &amp; Project Manager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7D8CB18-31C2-421A-B086-BCC239E2F5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white">
          <a:xfrm>
            <a:off x="7757739" y="2980088"/>
            <a:ext cx="2700338" cy="73818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Bobi</a:t>
            </a:r>
            <a:r>
              <a:rPr lang="en-US" dirty="0"/>
              <a:t> </a:t>
            </a:r>
            <a:r>
              <a:rPr lang="en-US" dirty="0" err="1"/>
              <a:t>Satria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 err="1">
                <a:solidFill>
                  <a:schemeClr val="bg2"/>
                </a:solidFill>
                <a:latin typeface="+mn-lt"/>
              </a:rPr>
              <a:t>Teknisi</a:t>
            </a:r>
            <a:r>
              <a:rPr lang="en-US" sz="1600" i="1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600" i="1" dirty="0" err="1">
                <a:solidFill>
                  <a:schemeClr val="bg2"/>
                </a:solidFill>
                <a:latin typeface="+mn-lt"/>
              </a:rPr>
              <a:t>Lapangan</a:t>
            </a:r>
            <a:r>
              <a:rPr lang="en-US" sz="1600" i="1" dirty="0">
                <a:solidFill>
                  <a:schemeClr val="bg2"/>
                </a:solidFill>
                <a:latin typeface="+mn-lt"/>
              </a:rPr>
              <a:t> Dan </a:t>
            </a:r>
            <a:r>
              <a:rPr lang="en-US" sz="1600" i="1" dirty="0" err="1">
                <a:solidFill>
                  <a:schemeClr val="bg2"/>
                </a:solidFill>
                <a:latin typeface="+mn-lt"/>
              </a:rPr>
              <a:t>Pengadaan</a:t>
            </a:r>
            <a:endParaRPr lang="en-US" sz="1600" i="1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9" name="object 6" descr="Beige rectangle">
            <a:extLst>
              <a:ext uri="{FF2B5EF4-FFF2-40B4-BE49-F238E27FC236}">
                <a16:creationId xmlns:a16="http://schemas.microsoft.com/office/drawing/2014/main" id="{E67B2D0F-2920-4165-BC82-05237362DABB}"/>
              </a:ext>
            </a:extLst>
          </p:cNvPr>
          <p:cNvSpPr/>
          <p:nvPr/>
        </p:nvSpPr>
        <p:spPr bwMode="ltGray">
          <a:xfrm>
            <a:off x="957251" y="1352776"/>
            <a:ext cx="2124000" cy="0"/>
          </a:xfrm>
          <a:custGeom>
            <a:avLst/>
            <a:gdLst/>
            <a:ahLst/>
            <a:cxnLst/>
            <a:rect l="l" t="t" r="r" b="b"/>
            <a:pathLst>
              <a:path w="1934210">
                <a:moveTo>
                  <a:pt x="0" y="0"/>
                </a:moveTo>
                <a:lnTo>
                  <a:pt x="193360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9040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BD5BAEF8-04EE-4148-AB9D-25427A926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1" y="675"/>
            <a:ext cx="12191999" cy="68566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537408-2125-4CE5-92A7-F7E0FCBA31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348413" cy="41402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lIns="1548000" tIns="216000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Font typeface="Arial" panose="020B0604020202020204" pitchFamily="34" charset="0"/>
              <a:buNone/>
            </a:pPr>
            <a:endParaRPr lang="en-US" sz="2500" b="1" dirty="0">
              <a:solidFill>
                <a:schemeClr val="bg2">
                  <a:alpha val="50000"/>
                </a:schemeClr>
              </a:solidFill>
            </a:endParaRPr>
          </a:p>
        </p:txBody>
      </p:sp>
      <p:sp>
        <p:nvSpPr>
          <p:cNvPr id="6" name="object 6" descr="Beige rectangle">
            <a:extLst>
              <a:ext uri="{FF2B5EF4-FFF2-40B4-BE49-F238E27FC236}">
                <a16:creationId xmlns:a16="http://schemas.microsoft.com/office/drawing/2014/main" id="{B0C70F64-F3E5-413B-AF4F-E15CE944B761}"/>
              </a:ext>
            </a:extLst>
          </p:cNvPr>
          <p:cNvSpPr/>
          <p:nvPr/>
        </p:nvSpPr>
        <p:spPr bwMode="ltGray">
          <a:xfrm>
            <a:off x="1005499" y="1108599"/>
            <a:ext cx="4176000" cy="0"/>
          </a:xfrm>
          <a:custGeom>
            <a:avLst/>
            <a:gdLst/>
            <a:ahLst/>
            <a:cxnLst/>
            <a:rect l="l" t="t" r="r" b="b"/>
            <a:pathLst>
              <a:path w="4206240">
                <a:moveTo>
                  <a:pt x="0" y="0"/>
                </a:moveTo>
                <a:lnTo>
                  <a:pt x="420624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43A5E-77DF-44FD-800D-158434A3ABC6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589595" y="56114"/>
            <a:ext cx="4859215" cy="1325563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THANK YOU!</a:t>
            </a:r>
            <a:endParaRPr lang="en-US" sz="5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DF1DA-A654-4680-8356-4D62B749C112}"/>
              </a:ext>
            </a:extLst>
          </p:cNvPr>
          <p:cNvSpPr txBox="1"/>
          <p:nvPr/>
        </p:nvSpPr>
        <p:spPr>
          <a:xfrm>
            <a:off x="235999" y="1206283"/>
            <a:ext cx="5715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Mohon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Maaf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Apabila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ada</a:t>
            </a:r>
            <a:r>
              <a:rPr lang="en-US" sz="2400" dirty="0">
                <a:solidFill>
                  <a:schemeClr val="bg1"/>
                </a:solidFill>
              </a:rPr>
              <a:t> salah kata </a:t>
            </a:r>
            <a:r>
              <a:rPr lang="en-US" sz="2400" dirty="0" err="1">
                <a:solidFill>
                  <a:schemeClr val="bg1"/>
                </a:solidFill>
              </a:rPr>
              <a:t>atau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kekurangan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slama</a:t>
            </a:r>
            <a:r>
              <a:rPr lang="en-US" sz="2400" dirty="0">
                <a:solidFill>
                  <a:schemeClr val="bg1"/>
                </a:solidFill>
              </a:rPr>
              <a:t> acara </a:t>
            </a:r>
            <a:r>
              <a:rPr lang="en-US" sz="2400" dirty="0" err="1">
                <a:solidFill>
                  <a:schemeClr val="bg1"/>
                </a:solidFill>
              </a:rPr>
              <a:t>berlangsung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Wabillahi</a:t>
            </a:r>
            <a:r>
              <a:rPr lang="en-US" sz="2400" dirty="0">
                <a:solidFill>
                  <a:schemeClr val="bg1"/>
                </a:solidFill>
              </a:rPr>
              <a:t> Taufiq Wal </a:t>
            </a:r>
            <a:r>
              <a:rPr lang="en-US" sz="2400" dirty="0" err="1">
                <a:solidFill>
                  <a:schemeClr val="bg1"/>
                </a:solidFill>
              </a:rPr>
              <a:t>Hidayah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Wasalamualaikum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Wr</a:t>
            </a:r>
            <a:r>
              <a:rPr lang="en-US" sz="2400" dirty="0">
                <a:solidFill>
                  <a:schemeClr val="bg1"/>
                </a:solidFill>
              </a:rPr>
              <a:t>, Wb</a:t>
            </a:r>
            <a:endParaRPr lang="en-ID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9512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5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23188392_Professional services pitch deck_SL_V1.potx" id="{A16A60D7-542B-43C6-BB27-7BA8168B4019}" vid="{8C6CFC53-4DED-4518-8264-5814B6A371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1946EF-A3EA-4ECB-8D9A-56C36FFF4075}">
  <ds:schemaRefs>
    <ds:schemaRef ds:uri="http://schemas.openxmlformats.org/package/2006/metadata/core-properties"/>
    <ds:schemaRef ds:uri="http://www.w3.org/XML/1998/namespace"/>
    <ds:schemaRef ds:uri="http://purl.org/dc/terms/"/>
    <ds:schemaRef ds:uri="71af3243-3dd4-4a8d-8c0d-dd76da1f02a5"/>
    <ds:schemaRef ds:uri="http://schemas.microsoft.com/office/2006/documentManagement/types"/>
    <ds:schemaRef ds:uri="http://schemas.microsoft.com/office/infopath/2007/PartnerControls"/>
    <ds:schemaRef ds:uri="http://purl.org/dc/dcmitype/"/>
    <ds:schemaRef ds:uri="16c05727-aa75-4e4a-9b5f-8a80a1165891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FDD087A-3273-4D74-8700-4C8E2BE507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2DAF9E5-DED4-4A50-A81B-4CC218A03F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pitch deck</Template>
  <TotalTime>84</TotalTime>
  <Words>202</Words>
  <Application>Microsoft Office PowerPoint</Application>
  <PresentationFormat>Widescreen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</vt:lpstr>
      <vt:lpstr>Calibri</vt:lpstr>
      <vt:lpstr>Gill Sans MT</vt:lpstr>
      <vt:lpstr>Office Theme</vt:lpstr>
      <vt:lpstr>NETCONNECT SOLUTIONS</vt:lpstr>
      <vt:lpstr>NETCONNECT SOLUTIONS</vt:lpstr>
      <vt:lpstr>DAFTAR HARGA</vt:lpstr>
      <vt:lpstr>VISI &amp; MISI</vt:lpstr>
      <vt:lpstr>Profil Usaha</vt:lpstr>
      <vt:lpstr>THE TEAM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NETCONNECT SOLUTIONS</dc:title>
  <dc:creator>BMAX-B1PRO-05</dc:creator>
  <cp:lastModifiedBy>BMAX-B1PRO-05</cp:lastModifiedBy>
  <cp:revision>2</cp:revision>
  <dcterms:created xsi:type="dcterms:W3CDTF">2026-09-15T06:03:41Z</dcterms:created>
  <dcterms:modified xsi:type="dcterms:W3CDTF">2026-09-15T07:29:18Z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